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s/slide6.xml" ContentType="application/vnd.openxmlformats-officedocument.presentationml.slide+xml"/>
  <Override PartName="/docProps/custom.xml" ContentType="application/vnd.openxmlformats-officedocument.custom-properties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12192000" cy="6858000"/>
  <p:defaultTextStyle>
    <a:defPPr>
      <a:defRPr lang="ru-RU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5" d="102"/>
          <a:sy n="99" d="101"/>
        </p:scale>
        <p:origin x="112" y="112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0443820A-0E64-48F8-9055-FF0DD326791F}" type="slidenum">
              <a:rPr/>
              <a:t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0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DBAF7565-BD3D-4988-BF27-19ACCF1FF09C}" type="slidenum">
              <a:rPr/>
              <a:t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0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BADD4291-E64D-4ACE-9606-872F71F26F53}" type="slidenum">
              <a:rPr/>
              <a:t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E7848800-600E-4D7C-8C16-56913FC2CB79}" type="slidenum">
              <a:rPr/>
              <a:t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83F740C6-2FCF-4DC5-BD09-D174C89031A2}" type="slidenum">
              <a:rPr/>
              <a:t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 bwMode="auto">
          <a:xfrm>
            <a:off x="1523880" y="1122480"/>
            <a:ext cx="9142920" cy="1106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defRPr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24CE1E4F-90CD-444A-9102-28A7F8C6D4A3}" type="slidenum">
              <a:rPr/>
              <a:t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54B77554-3C92-4FB0-A5BA-1538CE874445}" type="slidenum">
              <a:rPr/>
              <a:t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CE45E5D0-7D09-4149-8883-20EC63A466B5}" type="slidenum">
              <a:rPr/>
              <a:t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0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EC5258FE-DB84-45B9-9B37-2835BC5834A2}" type="slidenum">
              <a:rPr/>
              <a:t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0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0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43333E65-E319-423D-A2F3-391F9AD0C527}" type="slidenum">
              <a:rPr/>
              <a:t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9A71CA36-5B07-4E7D-959F-2DAA2C004824}" type="slidenum">
              <a:rPr/>
              <a:t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 bwMode="auto"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 bwMode="auto"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 bwMode="auto"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 bwMode="auto"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EC69DE03-561F-4E27-872C-F6EF2C2AABB2}" type="slidenum">
              <a:rPr/>
              <a:t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0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 bwMode="auto"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 bwMode="auto"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5A182F08-8818-4767-99C4-3366E5EE4C41}" type="slidenum">
              <a: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/>
            </a:fld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 bwMode="auto"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779969" name=""/>
          <p:cNvSpPr txBox="1"/>
          <p:nvPr/>
        </p:nvSpPr>
        <p:spPr bwMode="auto">
          <a:xfrm flipH="0" flipV="0">
            <a:off x="3839549" y="1762124"/>
            <a:ext cx="183636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374173287" name=""/>
          <p:cNvSpPr txBox="1"/>
          <p:nvPr/>
        </p:nvSpPr>
        <p:spPr bwMode="auto">
          <a:xfrm flipH="0" flipV="0">
            <a:off x="3839549" y="529769"/>
            <a:ext cx="3712817" cy="6404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Цель разработки</a:t>
            </a:r>
            <a:endParaRPr sz="4800" b="1"/>
          </a:p>
        </p:txBody>
      </p:sp>
      <p:sp>
        <p:nvSpPr>
          <p:cNvPr id="1275376507" name=""/>
          <p:cNvSpPr txBox="1"/>
          <p:nvPr/>
        </p:nvSpPr>
        <p:spPr bwMode="auto">
          <a:xfrm flipH="0" flipV="0">
            <a:off x="511785" y="1884223"/>
            <a:ext cx="11235748" cy="2469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Разработка системы направлена на 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автоматизацию процесса обработки входящих заявок на IT-продукцию</a:t>
            </a: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а также на 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сокращение времени обработки заявок от момента получения  до  финального статуса</a:t>
            </a:r>
            <a:r>
              <a:rPr sz="2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с минимизацией ошибок связанных с человеческим фактором. Система предназначена для сотрудников компании «Интернет-Эксперт». В системе так же предусмотренна роль администратор.</a:t>
            </a:r>
            <a:endParaRPr sz="48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8095817" name=""/>
          <p:cNvSpPr txBox="1"/>
          <p:nvPr/>
        </p:nvSpPr>
        <p:spPr bwMode="auto">
          <a:xfrm flipH="0" flipV="0">
            <a:off x="3839549" y="529769"/>
            <a:ext cx="4107061" cy="6404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Задачи разработки</a:t>
            </a:r>
            <a:endParaRPr sz="4800" b="1"/>
          </a:p>
        </p:txBody>
      </p:sp>
      <p:sp>
        <p:nvSpPr>
          <p:cNvPr id="1245585677" name=""/>
          <p:cNvSpPr txBox="1"/>
          <p:nvPr/>
        </p:nvSpPr>
        <p:spPr bwMode="auto">
          <a:xfrm flipH="0" flipV="0">
            <a:off x="511785" y="1884222"/>
            <a:ext cx="11220267" cy="408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Провести анализ предметной области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;</a:t>
            </a:r>
            <a:endParaRPr lang="ru-RU" sz="26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9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Сформулировать требования к системе и составить техническое  задание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;</a:t>
            </a:r>
            <a:endParaRPr lang="ru-RU" sz="26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9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Спроектировать архитектуру серверного приложения, включая  разработку диаграмм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;</a:t>
            </a:r>
            <a:endParaRPr lang="ru-RU" sz="26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9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Спроектировать и реализовать структуру базы данных системы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;</a:t>
            </a:r>
            <a:endParaRPr lang="ru-RU" sz="26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9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Разработать API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;</a:t>
            </a:r>
            <a:endParaRPr lang="ru-RU" sz="26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9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Реализовать бизнес-логику системы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;</a:t>
            </a:r>
            <a:endParaRPr lang="ru-RU" sz="26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9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Обеспечить безопасность передачи и хранения данных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48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3413846" name=""/>
          <p:cNvSpPr txBox="1"/>
          <p:nvPr/>
        </p:nvSpPr>
        <p:spPr bwMode="auto">
          <a:xfrm flipH="0" flipV="0">
            <a:off x="3267098" y="529769"/>
            <a:ext cx="5701001" cy="6404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Используемые технологии</a:t>
            </a:r>
            <a:endParaRPr sz="4800" b="1"/>
          </a:p>
        </p:txBody>
      </p:sp>
      <p:sp>
        <p:nvSpPr>
          <p:cNvPr id="158940916" name=""/>
          <p:cNvSpPr txBox="1"/>
          <p:nvPr/>
        </p:nvSpPr>
        <p:spPr bwMode="auto">
          <a:xfrm flipH="0" flipV="0">
            <a:off x="511785" y="1884222"/>
            <a:ext cx="11333307" cy="4739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HTML, CSS, JavaScript - быстрая и простая разработка, обеспечивающая создание интуитивно понятного интерфейса(frontend);</a:t>
            </a:r>
            <a:endParaRPr lang="ru-RU" sz="26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9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JavaScript - предоставляет высокую производительность для выполнения запросов пользователя(backend);</a:t>
            </a:r>
            <a:endParaRPr lang="ru-RU" sz="26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9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PHP - 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обеспечивает высокую производительность при обработке запросов пользователей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(backend);</a:t>
            </a:r>
            <a:endParaRPr lang="ru-RU" sz="2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sz="900"/>
          </a:p>
          <a:p>
            <a:pPr algn="l">
              <a:defRPr/>
            </a:pP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Visual Studio Code - 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среда разработки, используемая для написания и редактирования исходного кода всей системы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;</a:t>
            </a:r>
            <a:endParaRPr lang="ru-RU" sz="2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endParaRPr sz="900"/>
          </a:p>
          <a:p>
            <a:pPr algn="l">
              <a:defRPr/>
            </a:pP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GitHub - 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платформа для хостинга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;</a:t>
            </a:r>
            <a:endParaRPr lang="ru-RU" sz="26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endParaRPr sz="9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Figma - 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инструмент для проектирования пользовательских интерфейсов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(UI).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5759622" name=""/>
          <p:cNvSpPr txBox="1"/>
          <p:nvPr/>
        </p:nvSpPr>
        <p:spPr bwMode="auto">
          <a:xfrm flipH="0" flipV="0">
            <a:off x="3040735" y="529769"/>
            <a:ext cx="6160206" cy="6404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Основные функции системы</a:t>
            </a:r>
            <a:endParaRPr sz="4800" b="1"/>
          </a:p>
        </p:txBody>
      </p:sp>
      <p:sp>
        <p:nvSpPr>
          <p:cNvPr id="677759785" name=""/>
          <p:cNvSpPr txBox="1"/>
          <p:nvPr/>
        </p:nvSpPr>
        <p:spPr bwMode="auto">
          <a:xfrm flipH="0" flipV="0">
            <a:off x="511785" y="1884223"/>
            <a:ext cx="11419707" cy="460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хранение и своевременное обновление данных о заявках клиента, сотрудниках и самих клиентах в БД;</a:t>
            </a:r>
            <a:endParaRPr lang="ru-RU" sz="26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9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предоставление, хоронящихся в БД заявок клиента, в удобном виде для сотрудника;</a:t>
            </a:r>
            <a:endParaRPr lang="ru-RU" sz="26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9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возможность взаимодействия сотрудника с заявкой клиента(обработка заявки);</a:t>
            </a:r>
            <a:endParaRPr lang="ru-RU" sz="26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9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возможность фильтровки(по типу, времени и статусу) и поиска(по почте и ID) нужной заявки;</a:t>
            </a:r>
            <a:endParaRPr lang="ru-RU" sz="2600" b="0" i="0" u="none" strike="noStrike" cap="none" spc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9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ru-RU" sz="2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 возможность мониторинга сотрудников, то есть просматривать их работу над заявками(администратор).</a:t>
            </a:r>
            <a:endParaRPr sz="48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955796" name=""/>
          <p:cNvSpPr txBox="1"/>
          <p:nvPr/>
        </p:nvSpPr>
        <p:spPr bwMode="auto">
          <a:xfrm flipH="0" flipV="0">
            <a:off x="3839549" y="529769"/>
            <a:ext cx="3586019" cy="6404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DFD</a:t>
            </a:r>
            <a:endParaRPr sz="4800" b="1"/>
          </a:p>
        </p:txBody>
      </p:sp>
      <p:sp>
        <p:nvSpPr>
          <p:cNvPr id="1882040308" name=""/>
          <p:cNvSpPr txBox="1"/>
          <p:nvPr/>
        </p:nvSpPr>
        <p:spPr bwMode="auto">
          <a:xfrm flipH="0" flipV="0">
            <a:off x="6807809" y="2029363"/>
            <a:ext cx="4917043" cy="42066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"Клиент" отправляет заявку, "Система" принимает заявку и отправляет подтверждение обратно клиенту;</a:t>
            </a:r>
            <a:endParaRPr lang="ru-RU" sz="1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"Система" записывает данные заявки, "База данных" принимает новые данные и отправляет данные доступных заявок обратно системе;</a:t>
            </a:r>
            <a:endParaRPr lang="ru-RU" sz="1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"Система" отображает данные заявки в удобном виде для сотрудника, "Сотрудник/Администратор" видит доступную заявку;</a:t>
            </a:r>
            <a:endParaRPr lang="ru-RU" sz="1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"Сотрудник/Администратор" берет заявку в работу и обрабатывает ее, "Система" принимает обработанную заявку;</a:t>
            </a:r>
            <a:endParaRPr lang="ru-RU" sz="1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ru-RU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"Система" передает и обновляет данные, "База данных" принимает обновленные данные.</a:t>
            </a:r>
            <a:endParaRPr sz="1800" b="1"/>
          </a:p>
        </p:txBody>
      </p:sp>
      <p:pic>
        <p:nvPicPr>
          <p:cNvPr id="1950752463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1785" y="2029363"/>
            <a:ext cx="6296024" cy="4343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555341" name=""/>
          <p:cNvSpPr txBox="1"/>
          <p:nvPr/>
        </p:nvSpPr>
        <p:spPr bwMode="auto">
          <a:xfrm flipH="0" flipV="0">
            <a:off x="4499499" y="529769"/>
            <a:ext cx="3236199" cy="6404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ER-диаграмма</a:t>
            </a:r>
            <a:endParaRPr sz="4800" b="1"/>
          </a:p>
        </p:txBody>
      </p:sp>
      <p:sp>
        <p:nvSpPr>
          <p:cNvPr id="1348557343" name=""/>
          <p:cNvSpPr txBox="1"/>
          <p:nvPr/>
        </p:nvSpPr>
        <p:spPr bwMode="auto">
          <a:xfrm flipH="0" flipV="0">
            <a:off x="6809249" y="1398448"/>
            <a:ext cx="4918843" cy="3109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	Таблица клиентов имеет PRIMARY KEY в виде ID, также обязательные данные в виде "Наименование организации/Имя заказчика", "Почта" и необязательные данные в виде "Телефон".</a:t>
            </a:r>
            <a:endParaRPr lang="ru-RU" sz="1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	Таблица сотрудников имеет PRIMARY KEY в виде ID, также обязательные данные в виде "role", "Имя" и "Телефон" .</a:t>
            </a:r>
            <a:endParaRPr lang="ru-RU" sz="1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ru-RU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	Таблица типов продукции имеет PRIMARY KEY в виде ID, также обязательные данные в виде "Тип" .</a:t>
            </a:r>
            <a:endParaRPr sz="1800" b="1"/>
          </a:p>
        </p:txBody>
      </p:sp>
      <p:pic>
        <p:nvPicPr>
          <p:cNvPr id="2136807933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513224" y="1543049"/>
            <a:ext cx="6296024" cy="2964718"/>
          </a:xfrm>
          <a:prstGeom prst="rect">
            <a:avLst/>
          </a:prstGeom>
        </p:spPr>
      </p:pic>
      <p:sp>
        <p:nvSpPr>
          <p:cNvPr id="114363383" name=""/>
          <p:cNvSpPr txBox="1"/>
          <p:nvPr/>
        </p:nvSpPr>
        <p:spPr bwMode="auto">
          <a:xfrm flipH="0" flipV="0">
            <a:off x="513224" y="4507768"/>
            <a:ext cx="11216308" cy="2286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latin typeface="Times New Roman"/>
                <a:ea typeface="Liberation Sans"/>
                <a:cs typeface="Liberation Sans"/>
              </a:rPr>
              <a:t>	Таблица</a:t>
            </a:r>
            <a:r>
              <a:rPr sz="1800">
                <a:latin typeface="Times New Roman"/>
                <a:ea typeface="Liberation Sans"/>
                <a:cs typeface="Liberation Sans"/>
              </a:rPr>
              <a:t> </a:t>
            </a:r>
            <a:r>
              <a:rPr sz="1800">
                <a:latin typeface="Times New Roman"/>
                <a:ea typeface="Liberation Sans"/>
                <a:cs typeface="Liberation Sans"/>
              </a:rPr>
              <a:t>заявок имеет PRIMARY KEY в виде ID, также обязательные данные в виде "Макет", "Финальный статус", "Дата отправки", "Дата взятия в работу", "Дата окончания обработки" и необязательные данные в в</a:t>
            </a:r>
            <a:r>
              <a:rPr sz="1800">
                <a:latin typeface="Times New Roman"/>
                <a:ea typeface="Liberation Sans"/>
                <a:cs typeface="Liberation Sans"/>
              </a:rPr>
              <a:t>иде "Короткое описание", "Заметка". Имеет FOREIGN KEY в виде "ID клиента", "ID сотрудника" и "ID типа продукции", которые связывают </a:t>
            </a:r>
            <a:r>
              <a:rPr sz="1800">
                <a:latin typeface="Times New Roman"/>
                <a:ea typeface="Liberation Sans"/>
                <a:cs typeface="Liberation Sans"/>
              </a:rPr>
              <a:t>таблицу</a:t>
            </a:r>
            <a:r>
              <a:rPr sz="1800">
                <a:latin typeface="Times New Roman"/>
                <a:ea typeface="Liberation Sans"/>
                <a:cs typeface="Liberation Sans"/>
              </a:rPr>
              <a:t> </a:t>
            </a:r>
            <a:r>
              <a:rPr sz="1800">
                <a:latin typeface="Times New Roman"/>
                <a:ea typeface="Liberation Sans"/>
                <a:cs typeface="Liberation Sans"/>
              </a:rPr>
              <a:t>клиентов, сотрудников, типов продукции с заявками. Между </a:t>
            </a:r>
            <a:r>
              <a:rPr sz="1800">
                <a:latin typeface="Times New Roman"/>
                <a:ea typeface="Liberation Sans"/>
                <a:cs typeface="Liberation Sans"/>
              </a:rPr>
              <a:t>таблицей</a:t>
            </a:r>
            <a:r>
              <a:rPr sz="1800">
                <a:latin typeface="Times New Roman"/>
                <a:ea typeface="Liberation Sans"/>
                <a:cs typeface="Liberation Sans"/>
              </a:rPr>
              <a:t> </a:t>
            </a:r>
            <a:r>
              <a:rPr sz="1800">
                <a:latin typeface="Times New Roman"/>
                <a:ea typeface="Liberation Sans"/>
                <a:cs typeface="Liberation Sans"/>
              </a:rPr>
              <a:t>клиентов и </a:t>
            </a:r>
            <a:r>
              <a:rPr sz="1800">
                <a:latin typeface="Times New Roman"/>
                <a:ea typeface="Liberation Sans"/>
                <a:cs typeface="Liberation Sans"/>
              </a:rPr>
              <a:t>таблицей</a:t>
            </a:r>
            <a:r>
              <a:rPr sz="1800">
                <a:latin typeface="Times New Roman"/>
                <a:ea typeface="Liberation Sans"/>
                <a:cs typeface="Liberation Sans"/>
              </a:rPr>
              <a:t> </a:t>
            </a:r>
            <a:r>
              <a:rPr sz="1800">
                <a:latin typeface="Times New Roman"/>
                <a:ea typeface="Liberation Sans"/>
                <a:cs typeface="Liberation Sans"/>
              </a:rPr>
              <a:t>заявок связь один ко многим(один клиент может б</a:t>
            </a:r>
            <a:r>
              <a:rPr sz="1800">
                <a:latin typeface="Times New Roman"/>
                <a:ea typeface="Liberation Sans"/>
                <a:cs typeface="Liberation Sans"/>
              </a:rPr>
              <a:t>ыть отправителем множества заявок), между </a:t>
            </a:r>
            <a:r>
              <a:rPr sz="1800">
                <a:latin typeface="Times New Roman"/>
                <a:ea typeface="Liberation Sans"/>
                <a:cs typeface="Liberation Sans"/>
              </a:rPr>
              <a:t>таблицей</a:t>
            </a:r>
            <a:r>
              <a:rPr sz="1800">
                <a:latin typeface="Times New Roman"/>
                <a:ea typeface="Liberation Sans"/>
                <a:cs typeface="Liberation Sans"/>
              </a:rPr>
              <a:t> </a:t>
            </a:r>
            <a:r>
              <a:rPr sz="1800">
                <a:latin typeface="Times New Roman"/>
                <a:ea typeface="Liberation Sans"/>
                <a:cs typeface="Liberation Sans"/>
              </a:rPr>
              <a:t>сотрудников и </a:t>
            </a:r>
            <a:r>
              <a:rPr sz="1800">
                <a:latin typeface="Times New Roman"/>
                <a:ea typeface="Liberation Sans"/>
                <a:cs typeface="Liberation Sans"/>
              </a:rPr>
              <a:t>таблицей</a:t>
            </a:r>
            <a:r>
              <a:rPr sz="1800">
                <a:latin typeface="Times New Roman"/>
                <a:ea typeface="Liberation Sans"/>
                <a:cs typeface="Liberation Sans"/>
              </a:rPr>
              <a:t> </a:t>
            </a:r>
            <a:r>
              <a:rPr sz="1800">
                <a:latin typeface="Times New Roman"/>
                <a:ea typeface="Liberation Sans"/>
                <a:cs typeface="Liberation Sans"/>
              </a:rPr>
              <a:t>заявок связь один ко многим(один сотрудник может взять в работу множество заявок), между </a:t>
            </a:r>
            <a:r>
              <a:rPr sz="1800">
                <a:latin typeface="Times New Roman"/>
                <a:ea typeface="Liberation Sans"/>
                <a:cs typeface="Liberation Sans"/>
              </a:rPr>
              <a:t>таблицей</a:t>
            </a:r>
            <a:r>
              <a:rPr sz="1800">
                <a:latin typeface="Times New Roman"/>
                <a:ea typeface="Liberation Sans"/>
                <a:cs typeface="Liberation Sans"/>
              </a:rPr>
              <a:t> </a:t>
            </a:r>
            <a:r>
              <a:rPr sz="1800">
                <a:latin typeface="Times New Roman"/>
                <a:ea typeface="Liberation Sans"/>
                <a:cs typeface="Liberation Sans"/>
              </a:rPr>
              <a:t>типов продукции и </a:t>
            </a:r>
            <a:r>
              <a:rPr sz="1800">
                <a:latin typeface="Times New Roman"/>
                <a:ea typeface="Liberation Sans"/>
                <a:cs typeface="Liberation Sans"/>
              </a:rPr>
              <a:t>таблицей</a:t>
            </a:r>
            <a:r>
              <a:rPr sz="1800">
                <a:latin typeface="Times New Roman"/>
                <a:ea typeface="Liberation Sans"/>
                <a:cs typeface="Liberation Sans"/>
              </a:rPr>
              <a:t> </a:t>
            </a:r>
            <a:r>
              <a:rPr sz="1800">
                <a:latin typeface="Times New Roman"/>
                <a:ea typeface="Liberation Sans"/>
                <a:cs typeface="Liberation Sans"/>
              </a:rPr>
              <a:t>заявок связь один ко многим(один тип продукции может задаться множеству заявок).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509888" name=""/>
          <p:cNvSpPr txBox="1"/>
          <p:nvPr/>
        </p:nvSpPr>
        <p:spPr bwMode="auto">
          <a:xfrm flipH="0" flipV="0">
            <a:off x="2932129" y="529769"/>
            <a:ext cx="6370939" cy="6404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Основная концепция дизайна</a:t>
            </a:r>
            <a:endParaRPr sz="4800" b="1"/>
          </a:p>
        </p:txBody>
      </p:sp>
      <p:sp>
        <p:nvSpPr>
          <p:cNvPr id="916955318" name=""/>
          <p:cNvSpPr txBox="1"/>
          <p:nvPr/>
        </p:nvSpPr>
        <p:spPr bwMode="auto">
          <a:xfrm flipH="0" flipV="0">
            <a:off x="6807809" y="2474415"/>
            <a:ext cx="4922443" cy="17377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ru-RU" sz="18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 рисунке изображен дизайн макет системы для мониторов 1920px так, как разрабатываемая система будет использоваться только в офисных условиях под определенные ПК. Цвета и шрифты подбирались в соответствии с офисными условиями компании.</a:t>
            </a:r>
            <a:endParaRPr sz="1800" b="1"/>
          </a:p>
        </p:txBody>
      </p:sp>
      <p:pic>
        <p:nvPicPr>
          <p:cNvPr id="324404142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rot="0" flipH="0" flipV="0">
            <a:off x="511785" y="2019299"/>
            <a:ext cx="6296024" cy="2647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R7-Office/2024.1.1.375</Application>
  <DocSecurity>0</DocSecurity>
  <PresentationFormat/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dc:identifier/>
  <dc:language>ru-RU</dc:language>
  <cp:lastModifiedBy>Anton Student</cp:lastModifiedBy>
  <cp:revision>5</cp:revision>
  <dcterms:created xsi:type="dcterms:W3CDTF">2023-08-25T13:22:51Z</dcterms:created>
  <dcterms:modified xsi:type="dcterms:W3CDTF">2026-03-09T09:02:18Z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</vt:i4>
  </property>
  <property fmtid="{D5CDD505-2E9C-101B-9397-08002B2CF9AE}" pid="4" name="PresentationFormat">
    <vt:lpwstr>Широкоэкранный</vt:lpwstr>
  </property>
  <property fmtid="{D5CDD505-2E9C-101B-9397-08002B2CF9AE}" pid="5" name="Slides">
    <vt:i4>1</vt:i4>
  </property>
</Properties>
</file>